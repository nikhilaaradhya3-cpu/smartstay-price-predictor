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AI GPU SUMMER INTERNSHIP PROGRAM · SUMMER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SmartStay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Rental Price Predictor — End-to-End Regression Pipeline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D P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20241ISE0014
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Model Architect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Knows If a Nightly Rate Is Fair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and guests on short-term rental platforms both face the same blind spot: is this price fair, or arbitrary?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7F1E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price new listings competitively without under- or over-charging.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9392" y="2743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7F1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992" y="2971800"/>
            <a:ext cx="502920" cy="50292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🧳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07992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3886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a quoted rate reflects genuine value or inflated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2743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7F1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971800"/>
            <a:ext cx="502920" cy="50292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30184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tools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30184" y="3886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pricing tools output a number with zero explanation of why.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fair nightly price from listing details — location, room type, reviews, availability, host activity — and explains exactly why, so both sides can trust the number.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SmartStay Sets Out to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384048" cy="384048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733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  </a:t>
            </a:r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real, messy tabular dataset — missing values, skewed price distribution, outliers.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5968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5117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regression models  </a:t>
            </a:r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(baseline), Random Forest, and Gradient Boosting under fair 5-fold cross-validation.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winning model  </a:t>
            </a:r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GridSearchCV, avoiding data leakage via a single held-out test set.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435254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3068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prediction  </a:t>
            </a:r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global and local feature-importance — not just a bare number.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5230368"/>
            <a:ext cx="384048" cy="384048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1846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live tool  </a:t>
            </a:r>
            <a:pPr indent="0" marL="0"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form where anyone enters listing details and gets an instant price + reasons.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Airbnb-Style Listings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after the public AB_NYC_2019 dataset — 5 boroughs, 3 room types, and the same real-world messiness: skewed prices, missing reviews, wide host-activity range.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803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27889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28803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48840" y="3383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0" y="27889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8803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40480" y="3383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32120" y="27889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28803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32120" y="3383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neighbourhood_group · room_type · minimum_nights · number_of_reviews · reviews_per_month · availability_365 · calculated_host_listings_count · latitude / longitude</a:t>
            </a:r>
            <a:endParaRPr lang="en-US" sz="1250" dirty="0"/>
          </a:p>
        </p:txBody>
      </p:sp>
      <p:pic>
        <p:nvPicPr>
          <p:cNvPr id="20" name="Image 0" descr="/home/claude/smartstay/chart_eda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600200"/>
            <a:ext cx="4572000" cy="41605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7804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borough &amp; room type — the two strongest raw price drivers.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Six-Stage End-to-End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7F1EE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Clean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468880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CSV, fill missing reviews, cap price outliers, log-transform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86200" y="24003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42232" y="1691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7F1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874520"/>
            <a:ext cx="457200" cy="457200"/>
          </a:xfrm>
          <a:prstGeom prst="ellipse">
            <a:avLst/>
          </a:prstGeom>
          <a:solidFill>
            <a:srgbClr val="0F4C42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19472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2468880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Distance-to-center, review activity score, host scale, availability 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71232" y="24003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27264" y="1691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7F1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8432" y="1874520"/>
            <a:ext cx="457200" cy="45720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802843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04504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Compare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28432" y="2468880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Random Forest, Gradient Boosting — 5-fold CV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7F1EE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4005072"/>
            <a:ext cx="457200" cy="457200"/>
          </a:xfrm>
          <a:prstGeom prst="ellipse">
            <a:avLst/>
          </a:prstGeom>
          <a:solidFill>
            <a:srgbClr val="0F4C4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005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8368" y="4599432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over the winning model's hyperparameters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4530852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42232" y="3822192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7F1EE"/>
          </a:solidFill>
          <a:ln/>
        </p:spPr>
      </p:sp>
      <p:sp>
        <p:nvSpPr>
          <p:cNvPr id="29" name="Shape 27"/>
          <p:cNvSpPr/>
          <p:nvPr/>
        </p:nvSpPr>
        <p:spPr>
          <a:xfrm>
            <a:off x="4343400" y="4005072"/>
            <a:ext cx="457200" cy="45720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19472" y="4005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343400" y="4599432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+ top-3 reasons per prediction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71232" y="4530852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27264" y="3822192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E7F1EE"/>
          </a:solidFill>
          <a:ln/>
        </p:spPr>
      </p:sp>
      <p:sp>
        <p:nvSpPr>
          <p:cNvPr id="35" name="Shape 33"/>
          <p:cNvSpPr/>
          <p:nvPr/>
        </p:nvSpPr>
        <p:spPr>
          <a:xfrm>
            <a:off x="8028432" y="4005072"/>
            <a:ext cx="457200" cy="457200"/>
          </a:xfrm>
          <a:prstGeom prst="ellipse">
            <a:avLst/>
          </a:prstGeom>
          <a:solidFill>
            <a:srgbClr val="0F4C42"/>
          </a:solidFill>
          <a:ln/>
        </p:spPr>
      </p:sp>
      <p:sp>
        <p:nvSpPr>
          <p:cNvPr id="36" name="Text 34"/>
          <p:cNvSpPr/>
          <p:nvPr/>
        </p:nvSpPr>
        <p:spPr>
          <a:xfrm>
            <a:off x="8028432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04504" y="40050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028432" y="4599432"/>
            <a:ext cx="3026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form — enter listing details, get price + explanation instantly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Behind Every Stage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424160" cy="658368"/>
          </a:xfrm>
          <a:prstGeom prst="rect">
            <a:avLst/>
          </a:prstGeom>
          <a:solidFill>
            <a:srgbClr val="E7F1E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10424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9572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39572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(Linear Regression, Random Forest, Gradient Boosting)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10424160" cy="658368"/>
          </a:xfrm>
          <a:prstGeom prst="rect">
            <a:avLst/>
          </a:prstGeom>
          <a:solidFill>
            <a:srgbClr val="E7F1E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5409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054096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· 5-fold KFold cross-validation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12464"/>
            <a:ext cx="10424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1246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712464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· matplotlib · seaborn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70832"/>
            <a:ext cx="10424160" cy="658368"/>
          </a:xfrm>
          <a:prstGeom prst="rect">
            <a:avLst/>
          </a:prstGeom>
          <a:solidFill>
            <a:srgbClr val="E7F1E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37083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37083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form (image-upload / structured input)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104241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0292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50292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model serialization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Fair Comparison</a:t>
            </a:r>
            <a:endParaRPr lang="en-US" sz="3200" dirty="0"/>
          </a:p>
        </p:txBody>
      </p:sp>
      <p:pic>
        <p:nvPicPr>
          <p:cNvPr id="5" name="Image 0" descr="/home/claude/smartstay/chart_model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0350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0" y="1783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cross-validation, same preprocessing pipeline, same random seed — an apples-to-apples comparison, not cherry-picked numbers.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6656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509760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607040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0" y="3337560"/>
            <a:ext cx="4892040" cy="502920"/>
          </a:xfrm>
          <a:prstGeom prst="rect">
            <a:avLst/>
          </a:prstGeom>
          <a:solidFill>
            <a:srgbClr val="E7F1EE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3337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09760" y="3337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0.279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07040" y="3337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6560" y="3840480"/>
            <a:ext cx="4892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3840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509760" y="38404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607040" y="38404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766560" y="4343400"/>
            <a:ext cx="48920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903720" y="4343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509760" y="4343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607040" y="4343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0.685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766560" y="50749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is selected for tuning: near-identical accuracy to Linear Regression, but captures non-linear location/review effects and yields tree-based feature importances for explainability.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GridSearchCV: Measurable Improvement</a:t>
            </a:r>
            <a:endParaRPr lang="en-US" sz="3200" dirty="0"/>
          </a:p>
        </p:txBody>
      </p:sp>
      <p:pic>
        <p:nvPicPr>
          <p:cNvPr id="5" name="Image 0" descr="/home/claude/smartstay/chart_before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73152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691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169164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$28.36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966960" y="169164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 set)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38160" y="29260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292608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$38.54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966960" y="292608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(test set)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8160" y="41605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7F1EE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416052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966960" y="416052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 set)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5303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n_estimators=250, max_depth=2, learning_rate=0.05 — a shallow, regularized ensemble that resists overfitting on a modest-sized dataset.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 Number — A Reason</a:t>
            </a:r>
            <a:endParaRPr lang="en-US" sz="3200" dirty="0"/>
          </a:p>
        </p:txBody>
      </p:sp>
      <p:pic>
        <p:nvPicPr>
          <p:cNvPr id="5" name="Image 0" descr="/home/claude/smartstay/chart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91640"/>
            <a:ext cx="64922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8288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 and borough dominate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prediction, matching real-world intuition — an entire home in Manhattan commands a premium over a shared room in the Bronx.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23760" y="32004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city center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host activity score add fine-grained correction on top of the location/type baseline.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0" y="4434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F4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its top-3 contributing factors — shown directly in the deployed app.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the Model Against Reality</a:t>
            </a:r>
            <a:endParaRPr lang="en-US" sz="3200" dirty="0"/>
          </a:p>
        </p:txBody>
      </p:sp>
      <p:pic>
        <p:nvPicPr>
          <p:cNvPr id="5" name="Image 0" descr="/home/claude/smartstay/chart_residu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645920"/>
            <a:ext cx="502920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— never seen during training or tuning.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near the dashed line are accurate predictions; the spread widens at high prices, where luxury listings carry more unexplained variance.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95360" y="16459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0F4C42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error: about $28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true nightly price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Usable Tool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pipeline is serialized with joblib and wrapped in a Streamlit form — anyone can enter listing details and get a live price estimate with reasons, no code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278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906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Borough, room type &amp; minimum nights inputs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935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host-activity sliders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23367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965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price estimate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73659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994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explanation factors shown live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E7F1EE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00200"/>
            <a:ext cx="5577840" cy="411480"/>
          </a:xfrm>
          <a:prstGeom prst="rect">
            <a:avLst/>
          </a:prstGeom>
          <a:solidFill>
            <a:srgbClr val="0F4C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764792"/>
            <a:ext cx="118872" cy="118872"/>
          </a:xfrm>
          <a:prstGeom prst="ellipse">
            <a:avLst/>
          </a:prstGeom>
          <a:solidFill>
            <a:srgbClr val="FFB3B3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392" y="1764792"/>
            <a:ext cx="118872" cy="118872"/>
          </a:xfrm>
          <a:prstGeom prst="ellipse">
            <a:avLst/>
          </a:prstGeom>
          <a:solidFill>
            <a:srgbClr val="FFE29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1764792"/>
            <a:ext cx="118872" cy="118872"/>
          </a:xfrm>
          <a:prstGeom prst="ellipse">
            <a:avLst/>
          </a:prstGeom>
          <a:solidFill>
            <a:srgbClr val="B7F0C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SmartStay — Fair Price Estimator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group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23960" y="2724912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0F6E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15400" y="27249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3136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23960" y="3163824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0F6E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31638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5753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nights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23960" y="3602736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0F6E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360273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55080" y="40142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center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23960" y="4041648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0F6E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15400" y="40416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km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4590288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59028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fair price: $118 / night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Team Split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7F1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engineering, 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8288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2514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cross-validation, GridSearch tuning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7F1E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Reporting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analysis, charts, final report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3931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4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/ Deployment Lead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front-end, model packaging, live demo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SmartStay  ·  Nikhil D P  ·  20241ISE0014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Risk, High Trust, Fully Deployed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116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messy dataset — not a toy sklearn example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60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 fairly under identical cross-validation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089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GridSearchCV — measurable, reported improvement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6576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explainable, not a black box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062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end-to-end: a non-technical user can use it today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F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D P · 20241ISE0014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2026-07-11T01:25:02Z</dcterms:created>
  <dcterms:modified xsi:type="dcterms:W3CDTF">2026-07-11T01:25:02Z</dcterms:modified>
</cp:coreProperties>
</file>